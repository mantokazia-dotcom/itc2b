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women (millions)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Physical violence
(lifetime)</c:v>
                </c:pt>
                <c:pt idx="1">
                  <c:v>Sexual violence
(lifetime)</c:v>
                </c:pt>
                <c:pt idx="2">
                  <c:v>Physical IPV
(lifetime)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2.15</c:v>
                </c:pt>
                <c:pt idx="2">
                  <c:v>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4bb12f-2f17-a6ae-c4e3-e497dbb0eba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8FAFC"/>
                </a:solidFill>
                <a:latin typeface="Aptos"/>
              </a:defRPr>
            </a:pPr>
            <a:r>
              <a:t>Ai HAVEN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89D3EB"/>
                </a:solidFill>
                <a:latin typeface="Aptos"/>
              </a:defRPr>
            </a:pPr>
            <a:r>
              <a:t>THE SILENT SAFETY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8FAFC"/>
                </a:solidFill>
                <a:latin typeface="Aptos"/>
              </a:defRPr>
            </a:pPr>
            <a:r>
              <a:t>A discreet, low-cost wearable that can trigger an emergency alert and share location when speaking or reaching for a phone may not be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3886200"/>
            <a:ext cx="4800600" cy="566928"/>
          </a:xfrm>
          <a:prstGeom prst="round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400507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1939"/>
                </a:solidFill>
                <a:latin typeface="Aptos"/>
              </a:defRPr>
            </a:pPr>
            <a:r>
              <a:t>HACKATHON CONCEPT • SOUTH 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663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DISCREET  |  SMART  | 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6875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5CB"/>
                </a:solidFill>
                <a:latin typeface="Aptos"/>
              </a:defRPr>
            </a:pPr>
            <a:r>
              <a:t>Safety • Dignity • Freedom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01  |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Why a silent, rapid safety trigger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13258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66A4"/>
                </a:solidFill>
                <a:latin typeface="Aptos"/>
              </a:defRPr>
            </a:pPr>
            <a:r>
              <a:t>37.9%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29809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of people aged 16+ said they felt safe walking alone in their neighbourhood when it is dark in 2025/26.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34640"/>
            <a:ext cx="3383280" cy="13258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99923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C85"/>
                </a:solidFill>
                <a:latin typeface="Aptos"/>
              </a:defRPr>
            </a:pPr>
            <a:r>
              <a:t>46.6%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29000"/>
            <a:ext cx="29809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said they had taken some action to protect themselves against crime in 2025/26.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3383280" cy="13258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50799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BE4B"/>
                </a:solidFill>
                <a:latin typeface="Aptos"/>
              </a:defRPr>
            </a:pPr>
            <a:r>
              <a:t>264,000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937760"/>
            <a:ext cx="29809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individuals experienced psychological violence in 2025/26; reporting to police was only 30.7%.</a:t>
            </a:r>
          </a:p>
        </p:txBody>
      </p:sp>
      <p:pic>
        <p:nvPicPr>
          <p:cNvPr id="15" name="Picture 14" descr="3466fb1b-fdd8-68c8-82da-99baf06ffd5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7315200" cy="4526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1447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BBCDE5"/>
                </a:solidFill>
                <a:latin typeface="Aptos"/>
              </a:defRPr>
            </a:pPr>
            <a:r>
              <a:t>Source: Statistics South Africa, Victims of Crime Release 2026 (2025/26 data). The figures describe reported survey experiences/perceptions, not all incidents of GBV.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02  | 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Recent national evidence shows a large safety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146304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66A4"/>
                </a:solidFill>
                <a:latin typeface="Aptos"/>
              </a:defRPr>
            </a:pPr>
            <a:r>
              <a:t>7.3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29809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BBCDE5"/>
                </a:solidFill>
                <a:latin typeface="Aptos"/>
              </a:defRPr>
            </a:pPr>
            <a:r>
              <a:t>women aged 18+ estimated to have experienced physical violence during their lifetime.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17520"/>
            <a:ext cx="3383280" cy="146304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18211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25F5C"/>
                </a:solidFill>
                <a:latin typeface="Aptos"/>
              </a:defRPr>
            </a:pPr>
            <a:r>
              <a:t>2.15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11879"/>
            <a:ext cx="29809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BBCDE5"/>
                </a:solidFill>
                <a:latin typeface="Aptos"/>
              </a:defRPr>
            </a:pPr>
            <a:r>
              <a:t>women aged 18+ estimated to have experienced sexual violence during their lifetime.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709160"/>
            <a:ext cx="338328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87375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9C85"/>
                </a:solidFill>
                <a:latin typeface="Aptos"/>
              </a:defRPr>
            </a:pPr>
            <a:r>
              <a:t>3.2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303520"/>
            <a:ext cx="298094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BCDE5"/>
                </a:solidFill>
                <a:latin typeface="Aptos"/>
              </a:defRPr>
            </a:pPr>
            <a:r>
              <a:t>reported physical intimate-partner violence during their lifetime.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0" y="137160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34840" y="5715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DE5"/>
                </a:solidFill>
                <a:latin typeface="Aptos"/>
              </a:defRPr>
            </a:pPr>
            <a:r>
              <a:t>HSRC national prevalence study released in 2024; figures are lifetime estimates.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BBCDE5"/>
                </a:solidFill>
                <a:latin typeface="Aptos"/>
              </a:defRPr>
            </a:pPr>
            <a:r>
              <a:t>Source: Human Sciences Research Council (HSRC), First South African National Gender-Based Violence Prevalence Study, 2024; figures reiterated by the National Council on GBVF, 31 Aug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03  |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Ai HAVEN turns one deliberate action into a coordinated alert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8193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2697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ACTIVATE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59" y="315468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DE5"/>
                </a:solidFill>
                <a:latin typeface="Aptos"/>
              </a:defRPr>
            </a:pPr>
            <a:r>
              <a:t>Double-press / hold button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157984"/>
            <a:ext cx="2194560" cy="0"/>
          </a:xfrm>
          <a:prstGeom prst="line">
            <a:avLst/>
          </a:prstGeom>
          <a:ln w="25400">
            <a:solidFill>
              <a:srgbClr val="BB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20440" y="1828800"/>
            <a:ext cx="658368" cy="658368"/>
          </a:xfrm>
          <a:prstGeom prst="ellipse">
            <a:avLst/>
          </a:prstGeom>
          <a:solidFill>
            <a:srgbClr val="89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93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819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97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5468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DE5"/>
                </a:solidFill>
                <a:latin typeface="Aptos"/>
              </a:defRPr>
            </a:pPr>
            <a:r>
              <a:t>Capture GPS coordinates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157984"/>
            <a:ext cx="2194560" cy="0"/>
          </a:xfrm>
          <a:prstGeom prst="line">
            <a:avLst/>
          </a:prstGeom>
          <a:ln w="25400">
            <a:solidFill>
              <a:srgbClr val="BB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00800" y="1828800"/>
            <a:ext cx="658368" cy="658368"/>
          </a:xfrm>
          <a:prstGeom prst="ellipse">
            <a:avLst/>
          </a:prstGeom>
          <a:solidFill>
            <a:srgbClr val="1A9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93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8193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TRANSMIT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15468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DE5"/>
                </a:solidFill>
                <a:latin typeface="Aptos"/>
              </a:defRPr>
            </a:pPr>
            <a:r>
              <a:t>Send alert through available network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2157984"/>
            <a:ext cx="2194560" cy="0"/>
          </a:xfrm>
          <a:prstGeom prst="line">
            <a:avLst/>
          </a:prstGeom>
          <a:ln w="25400">
            <a:solidFill>
              <a:srgbClr val="BB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81160" y="1828800"/>
            <a:ext cx="658368" cy="658368"/>
          </a:xfrm>
          <a:prstGeom prst="ellipse">
            <a:avLst/>
          </a:prstGeom>
          <a:solidFill>
            <a:srgbClr val="F4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9933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8193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97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15468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DE5"/>
                </a:solidFill>
                <a:latin typeface="Aptos"/>
              </a:defRPr>
            </a:pPr>
            <a:r>
              <a:t>Notify trusted contacts; future emergency-service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54880"/>
            <a:ext cx="1033272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919472"/>
            <a:ext cx="9930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66A4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349240"/>
            <a:ext cx="993038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DE5"/>
                </a:solidFill>
                <a:latin typeface="Aptos"/>
              </a:defRPr>
            </a:pPr>
            <a:r>
              <a:t>The device should reduce the number of actions needed during a high-stress moment—without requiring the user to unlock a phone or speak.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04  |  REAL-WORLD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A simple sequence a judge can understand in 20 seconds</a:t>
            </a:r>
          </a:p>
        </p:txBody>
      </p:sp>
      <p:pic>
        <p:nvPicPr>
          <p:cNvPr id="6" name="Picture 5" descr="e0eafb28-9acc-a88d-809b-6f7ae15a05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5806440"/>
            <a:ext cx="10972800" cy="64008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253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Demo sequence: threat → discreet activation → location + alert → trusted person receives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05  |  HOW THE PROTOTYPE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A beginner-friendly hardware architecture—with the important real-world corrections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19456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66A4"/>
                </a:solidFill>
                <a:latin typeface="Aptos"/>
              </a:defRPr>
            </a:pPr>
            <a:r>
              <a:t>SOS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11680"/>
            <a:ext cx="179222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BCDE5"/>
                </a:solidFill>
                <a:latin typeface="Aptos"/>
              </a:defRPr>
            </a:pPr>
            <a:r>
              <a:t>Deliberate double-press / 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19456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8191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D3EB"/>
                </a:solidFill>
                <a:latin typeface="Aptos"/>
              </a:defRPr>
            </a:pPr>
            <a:r>
              <a:t>ESP8266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011680"/>
            <a:ext cx="179222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BCDE5"/>
                </a:solidFill>
                <a:latin typeface="Aptos"/>
              </a:defRPr>
            </a:pPr>
            <a:r>
              <a:t>Microcontroller + Wi‑Fi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417320"/>
            <a:ext cx="219456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158191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9C85"/>
                </a:solidFill>
                <a:latin typeface="Aptos"/>
              </a:defRPr>
            </a:pPr>
            <a:r>
              <a:t>GPS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011680"/>
            <a:ext cx="179222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BCDE5"/>
                </a:solidFill>
                <a:latin typeface="Aptos"/>
              </a:defRPr>
            </a:pPr>
            <a:r>
              <a:t>u-blox NEO-6M or similar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291840" cy="10515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81912"/>
            <a:ext cx="2889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BE4B"/>
                </a:solidFill>
                <a:latin typeface="Aptos"/>
              </a:defRPr>
            </a:pPr>
            <a:r>
              <a:t>ACCELEROMETER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11680"/>
            <a:ext cx="288950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BCDE5"/>
                </a:solidFill>
                <a:latin typeface="Aptos"/>
              </a:defRPr>
            </a:pPr>
            <a:r>
              <a:t>MPU6050: optional fall/motion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26080"/>
            <a:ext cx="2926080" cy="141732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0906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66A4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5204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DE5"/>
                </a:solidFill>
                <a:latin typeface="Aptos"/>
              </a:defRPr>
            </a:pPr>
            <a:r>
              <a:t>Li‑Po battery + protection/charging circuit</a:t>
            </a:r>
            <a:br/>
            <a:r>
              <a:t>Low-power sleep when idle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926080"/>
            <a:ext cx="2926080" cy="141732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30906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D3EB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35204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DE5"/>
                </a:solidFill>
                <a:latin typeface="Aptos"/>
              </a:defRPr>
            </a:pPr>
            <a:r>
              <a:t>Wi‑Fi → cloud/app → trusted contacts</a:t>
            </a:r>
            <a:br/>
            <a:r>
              <a:t>(Prototype limitation: Wi‑Fi is not everywhere.)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926080"/>
            <a:ext cx="2926080" cy="141732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30906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9C8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35204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DE5"/>
                </a:solidFill>
                <a:latin typeface="Aptos"/>
              </a:defRPr>
            </a:pPr>
            <a:r>
              <a:t>Alert ID + coordinates + timestamp</a:t>
            </a:r>
            <a:br/>
            <a:r>
              <a:t>Optional motion/fall flag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709160"/>
            <a:ext cx="10332720" cy="1005840"/>
          </a:xfrm>
          <a:prstGeom prst="roundRect">
            <a:avLst/>
          </a:prstGeom>
          <a:solidFill>
            <a:srgbClr val="232A3F"/>
          </a:solidFill>
          <a:ln>
            <a:solidFill>
              <a:srgbClr val="F4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882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BE4B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809744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8FAFC"/>
                </a:solidFill>
                <a:latin typeface="Aptos"/>
              </a:defRPr>
            </a:pPr>
            <a:r>
              <a:t>GPS determines location; the ESP8266 does not contain GPS. For operation without Wi‑Fi, add a phone/BLE gateway or a cellular module in a later version.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06  |  PROTOTYPE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Compact form factor + modular internals</a:t>
            </a:r>
          </a:p>
        </p:txBody>
      </p:sp>
      <p:pic>
        <p:nvPicPr>
          <p:cNvPr id="6" name="Picture 5" descr="62eed5ce-2a64-45b0-7e92-e6910f79426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07  |  ACCESSIBILITY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The prototype is designed around affordability, repairability and simplicity</a:t>
            </a:r>
          </a:p>
        </p:txBody>
      </p:sp>
      <p:pic>
        <p:nvPicPr>
          <p:cNvPr id="6" name="Picture 5" descr="44e0e2cc-e2ac-23f3-4b41-1cfb8978c26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325880"/>
            <a:ext cx="4160520" cy="123444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49047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66A4"/>
                </a:solidFill>
                <a:latin typeface="Aptos"/>
              </a:defRPr>
            </a:pPr>
            <a:r>
              <a:t>LOW-COST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920240"/>
            <a:ext cx="37581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0">
                <a:solidFill>
                  <a:srgbClr val="BBCDE5"/>
                </a:solidFill>
                <a:latin typeface="Aptos"/>
              </a:defRPr>
            </a:pPr>
            <a:r>
              <a:t>Target: roughly R175–R250 based on the supplied component estimate. Treat this as a prototype estimate—not a production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4160520" cy="123444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90779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9C85"/>
                </a:solidFill>
                <a:latin typeface="Aptos"/>
              </a:defRPr>
            </a:pPr>
            <a:r>
              <a:t>NO SUBSCRIPTION —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3337560"/>
            <a:ext cx="37581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0">
                <a:solidFill>
                  <a:srgbClr val="BBCDE5"/>
                </a:solidFill>
                <a:latin typeface="Aptos"/>
              </a:defRPr>
            </a:pPr>
            <a:r>
              <a:t>The prototype can demonstrate alerts over Wi‑Fi without a paid cellular plan. Production deployment would have connectivity and cloud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160520"/>
            <a:ext cx="4160520" cy="123444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432511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D3EB"/>
                </a:solidFill>
                <a:latin typeface="Aptos"/>
              </a:defRPr>
            </a:pPr>
            <a:r>
              <a:t>SOCIAL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754880"/>
            <a:ext cx="37581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0">
                <a:solidFill>
                  <a:srgbClr val="BBCDE5"/>
                </a:solidFill>
                <a:latin typeface="Aptos"/>
              </a:defRPr>
            </a:pPr>
            <a:r>
              <a:t>Discreet activation • faster notification • trusted-contact network • privacy-first design • potential for local manufacture.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08  | 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What can go wrong—and how the team would diagnose 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800600"/>
                <a:gridCol w="4206240"/>
              </a:tblGrid>
              <a:tr h="7249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81939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F166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81939"/>
                          </a:solidFill>
                        </a:defRPr>
                      </a:pPr>
                      <a:r>
                        <a:t>LIKELY FIX</a:t>
                      </a:r>
                    </a:p>
                  </a:txBody>
                  <a:tcPr>
                    <a:solidFill>
                      <a:srgbClr val="F166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81939"/>
                          </a:solidFill>
                        </a:defRPr>
                      </a:pPr>
                      <a:r>
                        <a:t>DEMO / ENGINEERING CHECK</a:t>
                      </a:r>
                    </a:p>
                  </a:txBody>
                  <a:tcPr>
                    <a:solidFill>
                      <a:srgbClr val="F166A4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Button does nothing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Check GPIO, ground and pull-up/down; add a debounce; confirm battery voltage.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Test button input with a serial monitor.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GPS shows no location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Move outdoors; allow time for satellite fix; check UART wiring and baud rate.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Display 'SEARCHING' until a valid fix is available.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Alert not delivered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Check Wi‑Fi credentials, signal strength and cloud/API endpoint.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Queue the event locally and retry.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False activation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Use double-press/long-press + short countdown/cancel window.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Require deliberate input rather than a single tap.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Battery drains quickly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Use deep sleep; wake only on button/motion; reduce GPS polling.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Measure current in sleep and active modes.</a:t>
                      </a:r>
                    </a:p>
                  </a:txBody>
                  <a:tcPr>
                    <a:solidFill>
                      <a:srgbClr val="0E264E"/>
                    </a:solidFill>
                  </a:tcPr>
                </a:tc>
              </a:tr>
              <a:tr h="724992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8FAFC"/>
                          </a:solidFill>
                        </a:defRPr>
                      </a:pPr>
                      <a:r>
                        <a:t>Device gets hacked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Use authenticated APIs, encrypted transport, unique device credentials and signed firmware.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BBCDE5"/>
                          </a:solidFill>
                        </a:defRPr>
                      </a:pPr>
                      <a:r>
                        <a:t>Never expose secrets in source code.</a:t>
                      </a:r>
                    </a:p>
                  </a:txBody>
                  <a:tcPr>
                    <a:solidFill>
                      <a:srgbClr val="16305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09  |  FREQUENTLY ASKED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Questions a hackathon judge is likely to 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66A4"/>
                </a:solidFill>
                <a:latin typeface="Aptos"/>
              </a:defRPr>
            </a:pPr>
            <a:r>
              <a:t>Does it work without a phone?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The hardware can trigger an alert, but the current Wi‑Fi prototype still needs network access. A cellular module or phone/BLE gateway is the next step for wider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90472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9C85"/>
                </a:solidFill>
                <a:latin typeface="Aptos"/>
              </a:defRPr>
            </a:pPr>
            <a:r>
              <a:t>Does GPS work indoors?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20240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GPS can be weak indoors. The device should show a clear status and use the last valid location when appropriate, rather than pretending the location is exact.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53512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118104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D3EB"/>
                </a:solidFill>
                <a:latin typeface="Aptos"/>
              </a:defRPr>
            </a:pPr>
            <a:r>
              <a:t>Will it accidentally activate?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547872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The prototype uses deliberate double-press/hold activation. A short cancel window can be added before the alert is finalized.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53512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118104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BE4B"/>
                </a:solidFill>
                <a:latin typeface="Aptos"/>
              </a:defRPr>
            </a:pPr>
            <a:r>
              <a:t>Can it contact SAPS directly?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547872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For the prototype, demonstrate trusted-contact alerts. Direct SAPS dispatch would require an approved integration/API and operational agreement; it should not be claimed as a live feature without that integration.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45736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5F5C"/>
                </a:solidFill>
                <a:latin typeface="Aptos"/>
              </a:defRPr>
            </a:pPr>
            <a:r>
              <a:t>What if the device is hacked?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175504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Use TLS, authentication, unique device keys, secure firmware updates, rate limiting and minimal stored personal data. No connected device can honestly be promised to be 'unhackable'.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81144"/>
            <a:ext cx="5257800" cy="1353312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745736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CB"/>
                </a:solidFill>
                <a:latin typeface="Aptos"/>
              </a:defRPr>
            </a:pPr>
            <a:r>
              <a:t>Why call it 'AI' Haven?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175504"/>
            <a:ext cx="4855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BBCDE5"/>
                </a:solidFill>
                <a:latin typeface="Aptos"/>
              </a:defRPr>
            </a:pPr>
            <a:r>
              <a:t>AI can be added later for anomaly/fall detection or alert prioritisation. The core SOS button itself does not need AI to demonstrate the safety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10  |  LIMITATIONS →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Be transparent about what is prototype-ready and what comes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5262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1181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66A4"/>
                </a:solidFill>
                <a:latin typeface="Aptos"/>
              </a:defRPr>
            </a:pPr>
            <a:r>
              <a:t>TODAY —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311810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• Physical SOS button</a:t>
            </a:r>
            <a:br/>
            <a:r>
              <a:t>• Microcontroller logic</a:t>
            </a:r>
            <a:br/>
            <a:r>
              <a:t>• GPS location capture</a:t>
            </a:r>
            <a:br/>
            <a:r>
              <a:t>• Wi‑Fi alert demonstration</a:t>
            </a:r>
            <a:br/>
            <a:r>
              <a:t>• Trusted-contact notification</a:t>
            </a:r>
            <a:br/>
            <a:r>
              <a:t>• Battery / sleep-mode concept</a:t>
            </a:r>
            <a:br/>
            <a:br/>
            <a:r>
              <a:t>Goal: prove the core interaction end-to-end.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181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9C85"/>
                </a:solidFill>
                <a:latin typeface="Aptos"/>
              </a:defRPr>
            </a:pPr>
            <a:r>
              <a:t>NEXT —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11810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• Cellular fallback</a:t>
            </a:r>
            <a:br/>
            <a:r>
              <a:t>• Better enclosure + waterproofing</a:t>
            </a:r>
            <a:br/>
            <a:r>
              <a:t>• Secure provisioning</a:t>
            </a:r>
            <a:br/>
            <a:r>
              <a:t>• Battery-life testing</a:t>
            </a:r>
            <a:br/>
            <a:r>
              <a:t>• Accessibility testing</a:t>
            </a:r>
            <a:br/>
            <a:r>
              <a:t>• Location-confidence handling</a:t>
            </a:r>
            <a:br/>
            <a:r>
              <a:t>• Offline event queue</a:t>
            </a:r>
            <a:br/>
            <a:br/>
            <a:r>
              <a:t>Goal: make it robust outside the 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520440" cy="452628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1181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D3EB"/>
                </a:solidFill>
                <a:latin typeface="Aptos"/>
              </a:defRPr>
            </a:pPr>
            <a:r>
              <a:t>FUTURE —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920240"/>
            <a:ext cx="311810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DE5"/>
                </a:solidFill>
                <a:latin typeface="Aptos"/>
              </a:defRPr>
            </a:pPr>
            <a:r>
              <a:t>• Smartphone/BLE gateway</a:t>
            </a:r>
            <a:br/>
            <a:r>
              <a:t>• Optional fall/anomaly detection</a:t>
            </a:r>
            <a:br/>
            <a:r>
              <a:t>• Partnerships with NGOs / safety networks</a:t>
            </a:r>
            <a:br/>
            <a:r>
              <a:t>• Emergency-service integration where approved</a:t>
            </a:r>
            <a:br/>
            <a:r>
              <a:t>• Manufacturing + repair network</a:t>
            </a:r>
            <a:br/>
            <a:br/>
            <a:r>
              <a:t>Goal: move from demo to responsible deployment.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8932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CB"/>
                </a:solidFill>
                <a:latin typeface="Aptos"/>
              </a:defRPr>
            </a:pPr>
            <a:r>
              <a:t>Hackathon principle: prove the smallest reliable version first, then scale connectivity and intelligence.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ptos"/>
              </a:defRPr>
            </a:pPr>
            <a:r>
              <a:t>Ai HAVEN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A5CB"/>
                </a:solidFill>
                <a:latin typeface="Aptos"/>
              </a:defRPr>
            </a:pPr>
            <a:r>
              <a:t>THE 30-SECOND HACKATHON PITCH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148840"/>
            <a:ext cx="9875520" cy="2423160"/>
          </a:xfrm>
          <a:prstGeom prst="roundRect">
            <a:avLst/>
          </a:prstGeom>
          <a:solidFill>
            <a:srgbClr val="0E264E"/>
          </a:solidFill>
          <a:ln w="12700">
            <a:solidFill>
              <a:srgbClr val="304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4168" y="2313432"/>
            <a:ext cx="9473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166A4"/>
                </a:solidFill>
                <a:latin typeface="Aptos"/>
              </a:defRPr>
            </a:pPr>
            <a:r>
              <a:t>THE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743200"/>
            <a:ext cx="94731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DE5"/>
                </a:solidFill>
                <a:latin typeface="Aptos"/>
              </a:defRPr>
            </a:pPr>
            <a:r>
              <a:t>“When someone cannot safely reach their phone or speak for help, every extra step matters. Ai HAVEN is a discreet safety button that lets a user deliberately trigger an emergency signal, capture their location and notify trusted contacts through a connected system. We are building the prototype around affordable, repairable hardware—and we are honest about the next challenge: reliable connectivity beyond Wi‑Fi. Our goal is simple: fewer steps between danger and a person who can respond.”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8920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9D3EB"/>
                </a:solidFill>
                <a:latin typeface="Aptos"/>
              </a:defRPr>
            </a:pPr>
            <a:r>
              <a:t>DISCREET  •  LOW-COST  •  PRIVACY-FIRST  • 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5321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Safety | Dignity | Freedom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6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t>11  |  SOURCES &amp; DATA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BCDE5"/>
                </a:solidFill>
                <a:latin typeface="Aptos"/>
              </a:defRPr>
            </a:pPr>
            <a:r>
              <a:t>Primary / official sources used for the recent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Aptos"/>
              </a:defRPr>
            </a:pPr>
            <a:r>
              <a:t>1. Statistics South Africa (2026), Victims of Crime Release 2026 — 2025/26 household and individual safety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Aptos"/>
              </a:defRPr>
            </a:pPr>
            <a:r>
              <a:t>2. Human Sciences Research Council (2024), First South African National Gender-Based Violence Prevalence Study.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Aptos"/>
              </a:defRPr>
            </a:pPr>
            <a:r>
              <a:t>3. South African Government (31 Aug 2026), National Council on Gender-Based Violence and Femicide — evidence and 2026/27 Q1 GBVF figures.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DE5"/>
                </a:solidFill>
                <a:latin typeface="Aptos"/>
              </a:defRPr>
            </a:pPr>
            <a:r>
              <a:t>4. South African Government (28 Aug 2026), First-quarter 2026/27 crime statistics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DE5"/>
                </a:solidFill>
                <a:latin typeface="Aptos"/>
              </a:defRPr>
            </a:pPr>
            <a:r>
              <a:t>5. SAPS (2025), Annual Report 2024/25 — crimes against women, detection and conviction indicators.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BCDE5"/>
                </a:solidFill>
                <a:latin typeface="Aptos"/>
              </a:defRPr>
            </a:pPr>
            <a:r>
              <a:t>Data note: crime and GBV statistics measure reported/recorded or survey-reported experiences. They should not be interpreted as a complete count of all incidents. Prototype claims in this deck are intentionally separated from verified national statistics.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D3EB"/>
                </a:solidFill>
                <a:latin typeface="Aptos"/>
              </a:defRPr>
            </a:pPr>
            <a:r>
              <a:t>Prepared for hackathon presentation • Ai HAVEN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BCDE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